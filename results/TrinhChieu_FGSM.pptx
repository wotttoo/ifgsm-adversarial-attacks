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457200"/>
            <a:ext cx="5486400" cy="7772400"/>
          </a:xfrm>
          <a:prstGeom prst="rect">
            <a:avLst/>
          </a:prstGeom>
          <a:solidFill>
            <a:srgbClr val="2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FD7ED"/>
                </a:solidFill>
                <a:latin typeface="Calibri"/>
              </a:rPr>
              <a:t>BÁO CÁO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Tấn Công Đối Kháng FGSM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9DC3E6"/>
                </a:solidFill>
                <a:latin typeface="Calibri"/>
              </a:rPr>
              <a:t>Fast Gradient Sign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3657600" cy="36576"/>
          </a:xfrm>
          <a:prstGeom prst="rect">
            <a:avLst/>
          </a:prstGeom>
          <a:solidFill>
            <a:srgbClr val="E3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BFD7ED"/>
                </a:solidFill>
                <a:latin typeface="Calibri"/>
              </a:rPr>
              <a:t>▸  Dataset: MNIST &amp; CIFAR-10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BFD7ED"/>
                </a:solidFill>
                <a:latin typeface="Calibri"/>
              </a:rPr>
              <a:t>▸  Model: SimpleCNN, ResNet18, MobileNetV2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BFD7ED"/>
                </a:solidFill>
                <a:latin typeface="Calibri"/>
              </a:rPr>
              <a:t>▸  Framework: PyTorch 2.0+ | Python 3.13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BFD7ED"/>
                </a:solidFill>
                <a:latin typeface="Calibri"/>
              </a:rPr>
              <a:t>▸  Ngày: 14/05/2026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Lý thuyết FGSM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0992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Công thức, trực giác, ý nghĩa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3075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Bộ dữ liệu &amp; Mô hình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70992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MNIST, CIFAR-10, SimpleCNN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Kết quả huấn luyện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358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Accuracy sau 20 epochs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56032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56032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Thực nghiệm 1 — ε vs ASR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358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FGSM sweep epsilon trên MNIST &amp; CIFAR-10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593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Trực quan hóa ảnh đối kháng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6168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FGSM Grid theo ε, phân phối xác suất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86200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886200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60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593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Transfer Attack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6168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Cross-architecture black-box attack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79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12079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86399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8523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Adversarial Training (FGSM-AT)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8756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Phòng thủ và đánh giá hiệu quả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212079"/>
            <a:ext cx="5394960" cy="114300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5212079"/>
            <a:ext cx="4114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486399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28523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Kết luận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68756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Tổng kết &amp; hướng phát triển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Lý thuyết FGSM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Fast Gradient Sign Method — Goodfellow et al., 2015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033272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x_adv  =  x  +  ε · sign( ∇ₓ J(θ, x, y) 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854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Ảnh gốc đầu vào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14884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854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Nhãn thực sự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14884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854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J(θ,x,y)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Hàm mất mát (Cross-Entropy)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214884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21854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∇ₓ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Gradient theo pixel ảnh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054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sign(·)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401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Lấy dấu → +1 hoặc 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301752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054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01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Biên độ nhiễu tối đa (L∞)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3017520"/>
            <a:ext cx="2743200" cy="731520"/>
          </a:xfrm>
          <a:prstGeom prst="rect">
            <a:avLst/>
          </a:prstGeom>
          <a:solidFill>
            <a:srgbClr val="EA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054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ourier New"/>
              </a:rPr>
              <a:t>x_adv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401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Ảnh đối kháng sinh 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Ý tưởng cốt lõi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15968"/>
            <a:ext cx="11457432" cy="3000"/>
          </a:xfrm>
          <a:prstGeom prst="rect">
            <a:avLst/>
          </a:prstGeom>
          <a:solidFill>
            <a:srgbClr val="E3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891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 Tính gradient của loss theo ảnh đầu vào (không phải theo tham số mô hình)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 Lấy dấu gradient (sign) → mọi pixel đều bị dịch chuyển ±ε đồng đều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 Chỉ cần 1 lần forward + backward → cực kỳ nhanh (~3s/1000 ảnh trên CPU)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 Nhiễu vô hình với mắt người nhưng đủ để đánh lừa mô hình học sâu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Bộ dữ liệu &amp; Mô hình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347472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MNIST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Chữ số viết tay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Kích thước: 28×28 px, grayscale (1 kênh)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Train: 54,000 | Val: 6,000 | Test: 10,000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10 lớp: chữ số 0–9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Augment: RandomAffine ±10°, dịch ±10%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Chuẩn hóa: [0.0, 1.0]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Test Accuracy (SimpleCNN): 99.45%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3474720"/>
          </a:xfrm>
          <a:prstGeom prst="rect">
            <a:avLst/>
          </a:prstGeom>
          <a:solidFill>
            <a:srgbClr val="F0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CIFAR-10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18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Ảnh vật thể thực tế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93392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Kích thước: 32×32 px, RGB (3 kênh)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Train: 45,000 | Val: 5,000 | Test: 10,000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10 lớp: airplane, car, bird, cat, deer...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Augment: RandomCrop(32,pad=4) + HFlip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Chuẩn hóa: mean=(0.491,0.482,0.447)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▸  Test Accuracy (SimpleCNN): 76.02%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Mô hình: SimpleCNN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Conv blocks → BatchNorm → ReLU → MaxPool → Dropout  |  Classifier: Flatten → Linear(512) → Dropout → Linear(10)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760720"/>
            <a:ext cx="27432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462K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MNIST
Params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5760720"/>
            <a:ext cx="27432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2.2M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CIFAR-10
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760720"/>
            <a:ext cx="2743200" cy="914400"/>
          </a:xfrm>
          <a:prstGeom prst="rect">
            <a:avLst/>
          </a:prstGeom>
          <a:solidFill>
            <a:srgbClr val="37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20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Epochs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5760720"/>
            <a:ext cx="2743200" cy="914400"/>
          </a:xfrm>
          <a:prstGeom prst="rect">
            <a:avLst/>
          </a:prstGeom>
          <a:solidFill>
            <a:srgbClr val="2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Adam
1e-3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Kết quả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SimpleCNN — 20 epochs, Adam lr=0.001, StepLR(step=10, γ=0.1)</a:t>
            </a:r>
          </a:p>
        </p:txBody>
      </p:sp>
      <p:pic>
        <p:nvPicPr>
          <p:cNvPr id="6" name="Picture 5" descr="training_history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1914858"/>
          </a:xfrm>
          <a:prstGeom prst="rect">
            <a:avLst/>
          </a:prstGeom>
        </p:spPr>
      </p:pic>
      <p:pic>
        <p:nvPicPr>
          <p:cNvPr id="7" name="Picture 6" descr="training_history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760720" cy="1914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CIFAR-10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715000"/>
            <a:ext cx="27432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98.98%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MNIST
Val 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5715000"/>
            <a:ext cx="2743200" cy="914400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99.45%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MNIST
Test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5715000"/>
            <a:ext cx="27432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74.36%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CIFAR-10
Val Best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6296" y="5715000"/>
            <a:ext cx="2743200" cy="914400"/>
          </a:xfrm>
          <a:prstGeom prst="rect">
            <a:avLst/>
          </a:prstGeom>
          <a:solidFill>
            <a:srgbClr val="37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76.02%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CIFAR-10
Test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Thực nghiệm 1 — ε vs ASR trên MNIST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Sweep ε ∈ {0.05, 0.10, 0.15, 0.20, 0.25, 0.30} | T=40 bước | 1,273 mẫu đúng</a:t>
            </a:r>
          </a:p>
        </p:txBody>
      </p:sp>
      <p:pic>
        <p:nvPicPr>
          <p:cNvPr id="6" name="Picture 5" descr="exp1_acc_vs_epsilon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035040" cy="372722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18872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Robust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94.53%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4.95%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3.2s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70.63%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28.99%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42.73%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57.03%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3.1s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25.16%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74.71%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15.94%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83.97%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2.9s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88.77%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60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FGSM bão hòa tại ~88.77% ASR dù ε tăng — trần 1 bước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Clean accuracy: 99.45% → Robust acc: 11.17% ở ε=0.30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Tốc độ: ~3s / 1,273 ảnh (chỉ 1 lần backward 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Thực nghiệm 1 — ε vs ASR trên CIFAR-10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Sweep ε ∈ {0.05 … 0.30} | T=40 bước | 973 mẫu đúng | Clean acc: 76.02%</a:t>
            </a:r>
          </a:p>
        </p:txBody>
      </p:sp>
      <p:pic>
        <p:nvPicPr>
          <p:cNvPr id="6" name="Picture 5" descr="exp1_acc_vs_epsilon_cifa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035040" cy="372722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18872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Robust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21.02%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72.35%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2.5s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15.08%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12.66%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83.35%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2.3s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11.64%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84.69%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2.2s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85.30%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2.2s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60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Ngay ε=0.05 đã đạt ASR 72.35% — CIFAR-10 nhạy hơn MNIST nhiều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Bão hòa nhanh: ε=0.15→0.30 chỉ tăng thêm ~2pp ASR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CIFAR-10 dễ bị tấn công hơn dù bài toán khó hơn (clean acc thấp)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 sánh MNIST vs CIFAR-10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Cùng mô hình SimpleCNN, cùng cấu hình FGSM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Tiêu chí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MNIST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Clean Accuracy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99.45%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76.02%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FGSM ASR tại ε=0.05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72.35%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FGSM ASR tại ε=0.10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28.99%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80.16%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FGSM ASR tại ε=0.20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74.71%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84.17%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FGSM ASR ceiling (ε=0.30)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88.77%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85.30%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ε để đạt ASR &gt;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~0.25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~0.10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Thời gian trung bình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~3.0s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  <a:latin typeface="Calibri"/>
                        </a:rPr>
                        <a:t>~2.3s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Tại sao CIFAR-10 nhạy hơn?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CIFAR-10 nhạy hơn vì clean accuracy thấp → ranh giới quyết định gần với dữ liệu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Không gian đầu vào cao hơn (3×32×32 = 3,072 vs 1×28×28 = 784) → gradient dễ tìm hướng tấn công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FGSM tiệm cận trần năng lực giống nhau (~85–89%) — trần cố hữu của tấn công 1 bước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Trực quan hóa — FGSM Grid theo 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Mỗi hàng: 1 mẫu ảnh. Cột 0: gốc. Cột 1–6: FGSM tại ε=0.05→0.30. Nhãn đỏ ✗ = bị đánh lừa.</a:t>
            </a:r>
          </a:p>
        </p:txBody>
      </p:sp>
      <p:pic>
        <p:nvPicPr>
          <p:cNvPr id="6" name="Picture 5" descr="fgsm_epsilon_grid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3250835"/>
          </a:xfrm>
          <a:prstGeom prst="rect">
            <a:avLst/>
          </a:prstGeom>
        </p:spPr>
      </p:pic>
      <p:pic>
        <p:nvPicPr>
          <p:cNvPr id="7" name="Picture 6" descr="fgsm_epsilon_grid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3250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CIFAR-10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Ở ε nhỏ (0.05–0.10): ảnh gần như không đổi nhưng mô hình đã bị đánh lừa (CIFAR-10)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Nhiễu ×10 bên dưới cho thấy cấu trúc gradient — không phải noise ngẫu nhiên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Từ ε=0.15: nhãn đổi ✗ với confidence cao — mô hình 'tự tin sai'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Phân phối xác suất dự đoán trước và sau tấn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Xanh = trước tấn công | Đỏ = sau FGSM (ε=0.30) | Cột viền đen = nhãn đúng</a:t>
            </a:r>
          </a:p>
        </p:txBody>
      </p:sp>
      <p:pic>
        <p:nvPicPr>
          <p:cNvPr id="6" name="Picture 5" descr="exp3_pred_probs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1222846"/>
          </a:xfrm>
          <a:prstGeom prst="rect">
            <a:avLst/>
          </a:prstGeom>
        </p:spPr>
      </p:pic>
      <p:pic>
        <p:nvPicPr>
          <p:cNvPr id="7" name="Picture 6" descr="exp3_pred_probs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1222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CIFAR-10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Trước tấn công: mô hình phân loại với độ tự tin ~99% (cột xanh cao ở nhãn đúng)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Sau FGSM: xác suất dịch hoàn toàn sang lớp sai — cũng với độ tự tin ~99%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Điều này xác nhận FGSM không chỉ làm mô hình sai mà còn làm nó 'cực kỳ tự tin sai'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Transfer Attack — Cross-Architecture (FGSM)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Ảnh đối kháng sinh từ model A có đánh lừa model B khác kiến trúc? | CIFAR-10 | ε=0.20</a:t>
            </a:r>
          </a:p>
        </p:txBody>
      </p:sp>
      <p:pic>
        <p:nvPicPr>
          <p:cNvPr id="6" name="Picture 5" descr="exp5_fgsm_only_heatmap_eps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303520" cy="4357376"/>
          </a:xfrm>
          <a:prstGeom prst="rect">
            <a:avLst/>
          </a:prstGeom>
        </p:spPr>
      </p:pic>
      <p:pic>
        <p:nvPicPr>
          <p:cNvPr id="7" name="Picture 6" descr="exp5_fgsm_only_transfer_asr_vs_epsil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6035040" cy="20836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715000"/>
            <a:ext cx="27432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81–89%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White-box ASR
(ε=0.20)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5715000"/>
            <a:ext cx="2743200" cy="914400"/>
          </a:xfrm>
          <a:prstGeom prst="rect">
            <a:avLst/>
          </a:prstGeom>
          <a:solidFill>
            <a:srgbClr val="E3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64–76%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Transfer ASR
(black-box)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5715000"/>
            <a:ext cx="2743200" cy="914400"/>
          </a:xfrm>
          <a:prstGeom prst="rect">
            <a:avLst/>
          </a:prstGeom>
          <a:solidFill>
            <a:srgbClr val="37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63.9%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Cặp thấp nhất
MNet→ResNet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5715000"/>
            <a:ext cx="27432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73.8%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Cặp cao nhất
SCNN→MNet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Transfer Attack — Hàm ý an ninh thực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2194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Black-box Attack
Vẫn hiệu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AF5"/>
                </a:solidFill>
                <a:latin typeface="Calibri"/>
              </a:rPr>
              <a:t>Transfer rate 64–76% — không cần biết kiến trúc model đích
vẫn có thể tấn công thành công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2194560"/>
          </a:xfrm>
          <a:prstGeom prst="rect">
            <a:avLst/>
          </a:prstGeom>
          <a:solidFill>
            <a:srgbClr val="E3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441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 mạnh hơn
Không an toàn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39112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AF5"/>
                </a:solidFill>
                <a:latin typeface="Calibri"/>
              </a:rPr>
              <a:t>MobileNetV2 (clean 85%) vẫn bị SimpleCNN→MNet attack đạt 73.8% ASR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03320"/>
            <a:ext cx="5577840" cy="2194560"/>
          </a:xfrm>
          <a:prstGeom prst="rect">
            <a:avLst/>
          </a:prstGeom>
          <a:solidFill>
            <a:srgbClr val="37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130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Khoảng cách kiến trúc
Có ảnh hưởng nhưng...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07992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AF5"/>
                </a:solidFill>
                <a:latin typeface="Calibri"/>
              </a:rPr>
              <a:t>MNet↔ResNet transfer thấp nhất (64%) — nhưng vẫn nguy hiểm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03320"/>
            <a:ext cx="5577840" cy="2194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130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FGSM vs I-FGSM
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07992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AF5"/>
                </a:solidFill>
                <a:latin typeface="Calibri"/>
              </a:rPr>
              <a:t>FGSM transfer đồng đều hơn I-FGSM — nhiễu 1 bước tổng quát hơn, ít overfit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Adversarial Training — FGSM-AT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Phòng thủ bằng cách huấn luyện model trên cả ảnh sạch lẫn ảnh đối kháng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loss  =  (1 − r) · CE(f(x), y)  +  r · CE(f(x_adv), y)     [r = 0.5]</a:t>
            </a:r>
          </a:p>
        </p:txBody>
      </p:sp>
      <p:pic>
        <p:nvPicPr>
          <p:cNvPr id="7" name="Picture 6" descr="adv_training_history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20240"/>
            <a:ext cx="5760720" cy="2153812"/>
          </a:xfrm>
          <a:prstGeom prst="rect">
            <a:avLst/>
          </a:prstGeom>
        </p:spPr>
      </p:pic>
      <p:pic>
        <p:nvPicPr>
          <p:cNvPr id="8" name="Picture 7" descr="adv_training_history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760720" cy="2153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MNIST  (ε_train = 0.30)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CIFAR-10  (ε_train = 0.10)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760720"/>
            <a:ext cx="2743200" cy="914400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99.3 → 99.0%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MNIST Clean
Std vs Adv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5760720"/>
            <a:ext cx="27432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89.2 → 7.0%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MNIST FGSM ASR
ε=0.30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5760720"/>
            <a:ext cx="2743200" cy="914400"/>
          </a:xfrm>
          <a:prstGeom prst="rect">
            <a:avLst/>
          </a:prstGeom>
          <a:solidFill>
            <a:srgbClr val="37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76.0 → 69.9%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CIFAR Clean
Std vs Adv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26296" y="5760720"/>
            <a:ext cx="2743200" cy="914400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E36B24"/>
                </a:solidFill>
                <a:latin typeface="Calibri"/>
              </a:rPr>
              <a:t>82.2 → 68.8%</a:t>
            </a:r>
          </a:p>
          <a:p>
            <a:pPr algn="ctr"/>
            <a:r>
              <a:rPr sz="1100">
                <a:solidFill>
                  <a:srgbClr val="BFD7ED"/>
                </a:solidFill>
                <a:latin typeface="Calibri"/>
              </a:rPr>
              <a:t>CIFAR FGSM ASR
ε=0.10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FGSM-AT: Standard vs Adversarial — So sánh ASR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7ED"/>
                </a:solidFill>
                <a:latin typeface="Calibri"/>
              </a:rPr>
              <a:t>Standard model (đường đỏ) vs Adversarial model (đường xanh)</a:t>
            </a:r>
          </a:p>
        </p:txBody>
      </p:sp>
      <p:pic>
        <p:nvPicPr>
          <p:cNvPr id="6" name="Picture 5" descr="adv_robustness_comparison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200523"/>
          </a:xfrm>
          <a:prstGeom prst="rect">
            <a:avLst/>
          </a:prstGeom>
        </p:spPr>
      </p:pic>
      <p:pic>
        <p:nvPicPr>
          <p:cNvPr id="7" name="Picture 6" descr="adv_robustness_comparison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22005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88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CIFAR-10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MNIST: ASR giảm từ 89.2% → 7.0% (ε=0.30), clean accuracy chỉ giảm 0.3pp — gần như miễn phí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CIFAR-10: ASR giảm ~13pp mỗi mức ε nhưng kèm trade-off clean accuracy −5.4pp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04040"/>
                </a:solidFill>
                <a:latin typeface="Calibri"/>
              </a:rPr>
              <a:t>•  Kết luận: Adversarial training hiệu quả hơn nhiều với bài toán đơn giản (MNIST)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E3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377440"/>
          </a:xfrm>
          <a:prstGeom prst="rect">
            <a:avLst/>
          </a:prstGeom>
          <a:solidFill>
            <a:srgbClr val="2A477A"/>
          </a:solidFill>
          <a:ln>
            <a:solidFill>
              <a:srgbClr val="E3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6B24"/>
                </a:solidFill>
                <a:latin typeface="Calibri"/>
              </a:rPr>
              <a:t>1.  ε ảnh hưởng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051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FEAF5"/>
                </a:solidFill>
                <a:latin typeface="Calibri"/>
              </a:rPr>
              <a:t>CIFAR-10: ASR 72% ngay ε=0.05 | MNIST: cần ε=0.25 để đạt ASR &gt;80%
FGSM bão hòa ~85–89% ASR — trần cố hữu của tấn công 1 bước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2377440"/>
          </a:xfrm>
          <a:prstGeom prst="rect">
            <a:avLst/>
          </a:prstGeom>
          <a:solidFill>
            <a:srgbClr val="2A477A"/>
          </a:solidFill>
          <a:ln>
            <a:solidFill>
              <a:srgbClr val="E3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984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6B24"/>
                </a:solidFill>
                <a:latin typeface="Calibri"/>
              </a:rPr>
              <a:t>2.  CIFAR-10 dễ bị tấn công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FEAF5"/>
                </a:solidFill>
                <a:latin typeface="Calibri"/>
              </a:rPr>
              <a:t>Dù bài toán khó hơn, clean accuracy thấp (76%) khiến ranh giới quyết định yếu
→ Cải thiện clean accuracy chưa đủ để đảm bảo robustness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2A477A"/>
          </a:solidFill>
          <a:ln>
            <a:solidFill>
              <a:srgbClr val="E3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6B24"/>
                </a:solidFill>
                <a:latin typeface="Calibri"/>
              </a:rPr>
              <a:t>3.  Transfer Attack vẫn nguy hiểm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1655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FEAF5"/>
                </a:solidFill>
                <a:latin typeface="Calibri"/>
              </a:rPr>
              <a:t>FGSM black-box ASR đạt 64–76% tại ε=0.20
→ Attacker không cần biết kiến trúc đích vẫn tấn công hiệu quả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94760"/>
            <a:ext cx="5577840" cy="2377440"/>
          </a:xfrm>
          <a:prstGeom prst="rect">
            <a:avLst/>
          </a:prstGeom>
          <a:solidFill>
            <a:srgbClr val="2A477A"/>
          </a:solidFill>
          <a:ln>
            <a:solidFill>
              <a:srgbClr val="E3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04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6B24"/>
                </a:solidFill>
                <a:latin typeface="Calibri"/>
              </a:rPr>
              <a:t>4.  FGSM-AT hiệu quả trên MNIST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1655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FEAF5"/>
                </a:solidFill>
                <a:latin typeface="Calibri"/>
              </a:rPr>
              <a:t>ASR giảm 82pp (89→7%) với gần như không giảm clean accuracy
CIFAR-10: moderate effect (−13pp ASR) với trade-off −5.4pp clean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2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Cảm ơn đã theo dõi!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D7ED"/>
                </a:solidFill>
                <a:latin typeface="Calibri"/>
              </a:rPr>
              <a:t>Source code: github.com/wotttoo/ifgsm_project  |  Framework: PyTorch 2.0+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